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CFBFD7-3262-4D43-98C3-3C96378401ED}" v="1" dt="2026-10-20T07:55:30.232"/>
    <p1510:client id="{CC16ED23-844D-404D-9DC1-355696EF687B}" v="1" dt="2026-10-20T05:43:01.2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harva Ghodki" userId="16f9cd1a53c40748" providerId="LiveId" clId="{AF92D854-5F1C-4893-8F66-3A0CFBDA44DF}"/>
    <pc:docChg chg="custSel addSld delSld modSld">
      <pc:chgData name="Atharva Ghodki" userId="16f9cd1a53c40748" providerId="LiveId" clId="{AF92D854-5F1C-4893-8F66-3A0CFBDA44DF}" dt="2026-10-20T07:57:41.061" v="104" actId="255"/>
      <pc:docMkLst>
        <pc:docMk/>
      </pc:docMkLst>
      <pc:sldChg chg="delSp modSp mod">
        <pc:chgData name="Atharva Ghodki" userId="16f9cd1a53c40748" providerId="LiveId" clId="{AF92D854-5F1C-4893-8F66-3A0CFBDA44DF}" dt="2026-10-20T07:57:41.061" v="104" actId="255"/>
        <pc:sldMkLst>
          <pc:docMk/>
          <pc:sldMk cId="0" sldId="256"/>
        </pc:sldMkLst>
        <pc:spChg chg="mod">
          <ac:chgData name="Atharva Ghodki" userId="16f9cd1a53c40748" providerId="LiveId" clId="{AF92D854-5F1C-4893-8F66-3A0CFBDA44DF}" dt="2026-10-20T07:57:41.061" v="104" actId="255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Atharva Ghodki" userId="16f9cd1a53c40748" providerId="LiveId" clId="{AF92D854-5F1C-4893-8F66-3A0CFBDA44DF}" dt="2026-10-20T07:55:24.235" v="93"/>
          <ac:spMkLst>
            <pc:docMk/>
            <pc:sldMk cId="0" sldId="256"/>
            <ac:spMk id="35" creationId="{F694C9F3-A21B-8DD6-A0BC-DB5C42150678}"/>
          </ac:spMkLst>
        </pc:spChg>
      </pc:sldChg>
      <pc:sldChg chg="delSp modSp add mod">
        <pc:chgData name="Atharva Ghodki" userId="16f9cd1a53c40748" providerId="LiveId" clId="{AF92D854-5F1C-4893-8F66-3A0CFBDA44DF}" dt="2026-10-20T07:56:31.743" v="103" actId="1076"/>
        <pc:sldMkLst>
          <pc:docMk/>
          <pc:sldMk cId="659623700" sldId="267"/>
        </pc:sldMkLst>
        <pc:spChg chg="del mod">
          <ac:chgData name="Atharva Ghodki" userId="16f9cd1a53c40748" providerId="LiveId" clId="{AF92D854-5F1C-4893-8F66-3A0CFBDA44DF}" dt="2026-10-20T07:52:01.222" v="65" actId="21"/>
          <ac:spMkLst>
            <pc:docMk/>
            <pc:sldMk cId="659623700" sldId="267"/>
            <ac:spMk id="2" creationId="{065B8F20-BCEB-62A8-59C0-0F9F3A7488D0}"/>
          </ac:spMkLst>
        </pc:spChg>
        <pc:spChg chg="del">
          <ac:chgData name="Atharva Ghodki" userId="16f9cd1a53c40748" providerId="LiveId" clId="{AF92D854-5F1C-4893-8F66-3A0CFBDA44DF}" dt="2026-10-20T07:50:42.830" v="43" actId="478"/>
          <ac:spMkLst>
            <pc:docMk/>
            <pc:sldMk cId="659623700" sldId="267"/>
            <ac:spMk id="3" creationId="{1117CF94-BD37-010F-BB54-09B791D67A85}"/>
          </ac:spMkLst>
        </pc:spChg>
        <pc:spChg chg="mod">
          <ac:chgData name="Atharva Ghodki" userId="16f9cd1a53c40748" providerId="LiveId" clId="{AF92D854-5F1C-4893-8F66-3A0CFBDA44DF}" dt="2026-10-20T07:54:10.110" v="86" actId="1076"/>
          <ac:spMkLst>
            <pc:docMk/>
            <pc:sldMk cId="659623700" sldId="267"/>
            <ac:spMk id="4" creationId="{7856A211-41BD-3B11-0937-C342D85EB5AB}"/>
          </ac:spMkLst>
        </pc:spChg>
        <pc:spChg chg="del">
          <ac:chgData name="Atharva Ghodki" userId="16f9cd1a53c40748" providerId="LiveId" clId="{AF92D854-5F1C-4893-8F66-3A0CFBDA44DF}" dt="2026-10-20T07:49:45.812" v="35" actId="21"/>
          <ac:spMkLst>
            <pc:docMk/>
            <pc:sldMk cId="659623700" sldId="267"/>
            <ac:spMk id="5" creationId="{3EDEAE11-8D1D-BE60-1280-556F0145C38B}"/>
          </ac:spMkLst>
        </pc:spChg>
        <pc:spChg chg="del mod">
          <ac:chgData name="Atharva Ghodki" userId="16f9cd1a53c40748" providerId="LiveId" clId="{AF92D854-5F1C-4893-8F66-3A0CFBDA44DF}" dt="2026-10-20T07:49:39.376" v="34" actId="478"/>
          <ac:spMkLst>
            <pc:docMk/>
            <pc:sldMk cId="659623700" sldId="267"/>
            <ac:spMk id="6" creationId="{6790B7D6-DED6-332A-06A2-6D247BD3101F}"/>
          </ac:spMkLst>
        </pc:spChg>
        <pc:spChg chg="mod">
          <ac:chgData name="Atharva Ghodki" userId="16f9cd1a53c40748" providerId="LiveId" clId="{AF92D854-5F1C-4893-8F66-3A0CFBDA44DF}" dt="2026-10-20T07:49:16.459" v="29" actId="20577"/>
          <ac:spMkLst>
            <pc:docMk/>
            <pc:sldMk cId="659623700" sldId="267"/>
            <ac:spMk id="7" creationId="{692471B1-D779-6DE9-83BC-7701EC9F6E98}"/>
          </ac:spMkLst>
        </pc:spChg>
        <pc:spChg chg="del">
          <ac:chgData name="Atharva Ghodki" userId="16f9cd1a53c40748" providerId="LiveId" clId="{AF92D854-5F1C-4893-8F66-3A0CFBDA44DF}" dt="2026-10-20T07:49:59.950" v="38" actId="21"/>
          <ac:spMkLst>
            <pc:docMk/>
            <pc:sldMk cId="659623700" sldId="267"/>
            <ac:spMk id="8" creationId="{44A3A196-3081-42B8-3122-A8182C3F6C12}"/>
          </ac:spMkLst>
        </pc:spChg>
        <pc:spChg chg="del mod">
          <ac:chgData name="Atharva Ghodki" userId="16f9cd1a53c40748" providerId="LiveId" clId="{AF92D854-5F1C-4893-8F66-3A0CFBDA44DF}" dt="2026-10-20T07:49:56.650" v="37" actId="21"/>
          <ac:spMkLst>
            <pc:docMk/>
            <pc:sldMk cId="659623700" sldId="267"/>
            <ac:spMk id="9" creationId="{5C269DDA-FEF5-CA56-BFD0-9C391DE10590}"/>
          </ac:spMkLst>
        </pc:spChg>
        <pc:spChg chg="mod">
          <ac:chgData name="Atharva Ghodki" userId="16f9cd1a53c40748" providerId="LiveId" clId="{AF92D854-5F1C-4893-8F66-3A0CFBDA44DF}" dt="2026-10-20T07:54:43.665" v="89" actId="1076"/>
          <ac:spMkLst>
            <pc:docMk/>
            <pc:sldMk cId="659623700" sldId="267"/>
            <ac:spMk id="10" creationId="{3F7578FF-452B-8C38-FFD3-1DCB3DF91D22}"/>
          </ac:spMkLst>
        </pc:spChg>
        <pc:spChg chg="del">
          <ac:chgData name="Atharva Ghodki" userId="16f9cd1a53c40748" providerId="LiveId" clId="{AF92D854-5F1C-4893-8F66-3A0CFBDA44DF}" dt="2026-10-20T07:50:12.751" v="42" actId="21"/>
          <ac:spMkLst>
            <pc:docMk/>
            <pc:sldMk cId="659623700" sldId="267"/>
            <ac:spMk id="11" creationId="{5ADCF9FF-52A1-339F-9596-FCABD270067E}"/>
          </ac:spMkLst>
        </pc:spChg>
        <pc:spChg chg="del mod">
          <ac:chgData name="Atharva Ghodki" userId="16f9cd1a53c40748" providerId="LiveId" clId="{AF92D854-5F1C-4893-8F66-3A0CFBDA44DF}" dt="2026-10-20T07:50:08.870" v="41" actId="21"/>
          <ac:spMkLst>
            <pc:docMk/>
            <pc:sldMk cId="659623700" sldId="267"/>
            <ac:spMk id="12" creationId="{2C1DC7A5-B3D9-F570-A6A8-50A9C6950962}"/>
          </ac:spMkLst>
        </pc:spChg>
        <pc:spChg chg="del mod">
          <ac:chgData name="Atharva Ghodki" userId="16f9cd1a53c40748" providerId="LiveId" clId="{AF92D854-5F1C-4893-8F66-3A0CFBDA44DF}" dt="2026-10-20T07:51:54.951" v="64" actId="21"/>
          <ac:spMkLst>
            <pc:docMk/>
            <pc:sldMk cId="659623700" sldId="267"/>
            <ac:spMk id="13" creationId="{6A0BE6C0-1291-CD64-C7BF-5E03398B09DD}"/>
          </ac:spMkLst>
        </pc:spChg>
        <pc:spChg chg="del">
          <ac:chgData name="Atharva Ghodki" userId="16f9cd1a53c40748" providerId="LiveId" clId="{AF92D854-5F1C-4893-8F66-3A0CFBDA44DF}" dt="2026-10-20T07:51:42.249" v="62" actId="21"/>
          <ac:spMkLst>
            <pc:docMk/>
            <pc:sldMk cId="659623700" sldId="267"/>
            <ac:spMk id="14" creationId="{5FC7169B-0348-AF9A-E625-C097D34BE0D7}"/>
          </ac:spMkLst>
        </pc:spChg>
        <pc:spChg chg="del mod">
          <ac:chgData name="Atharva Ghodki" userId="16f9cd1a53c40748" providerId="LiveId" clId="{AF92D854-5F1C-4893-8F66-3A0CFBDA44DF}" dt="2026-10-20T07:51:38.774" v="61" actId="21"/>
          <ac:spMkLst>
            <pc:docMk/>
            <pc:sldMk cId="659623700" sldId="267"/>
            <ac:spMk id="15" creationId="{C20104F5-9672-FC52-B479-149F722E7B72}"/>
          </ac:spMkLst>
        </pc:spChg>
        <pc:spChg chg="mod">
          <ac:chgData name="Atharva Ghodki" userId="16f9cd1a53c40748" providerId="LiveId" clId="{AF92D854-5F1C-4893-8F66-3A0CFBDA44DF}" dt="2026-10-20T07:49:31.798" v="32" actId="20577"/>
          <ac:spMkLst>
            <pc:docMk/>
            <pc:sldMk cId="659623700" sldId="267"/>
            <ac:spMk id="16" creationId="{EF3D0B0B-B972-5891-55ED-412553EE0C46}"/>
          </ac:spMkLst>
        </pc:spChg>
        <pc:spChg chg="del">
          <ac:chgData name="Atharva Ghodki" userId="16f9cd1a53c40748" providerId="LiveId" clId="{AF92D854-5F1C-4893-8F66-3A0CFBDA44DF}" dt="2026-10-20T07:52:37.721" v="70" actId="21"/>
          <ac:spMkLst>
            <pc:docMk/>
            <pc:sldMk cId="659623700" sldId="267"/>
            <ac:spMk id="17" creationId="{09D4117E-A7E5-B7E6-CA45-05337F99540D}"/>
          </ac:spMkLst>
        </pc:spChg>
        <pc:spChg chg="del">
          <ac:chgData name="Atharva Ghodki" userId="16f9cd1a53c40748" providerId="LiveId" clId="{AF92D854-5F1C-4893-8F66-3A0CFBDA44DF}" dt="2026-10-20T07:52:15.228" v="66" actId="21"/>
          <ac:spMkLst>
            <pc:docMk/>
            <pc:sldMk cId="659623700" sldId="267"/>
            <ac:spMk id="18" creationId="{EBB58D64-EBAB-F994-E774-236FC4BDBB28}"/>
          </ac:spMkLst>
        </pc:spChg>
        <pc:spChg chg="del">
          <ac:chgData name="Atharva Ghodki" userId="16f9cd1a53c40748" providerId="LiveId" clId="{AF92D854-5F1C-4893-8F66-3A0CFBDA44DF}" dt="2026-10-20T07:53:23.945" v="80" actId="21"/>
          <ac:spMkLst>
            <pc:docMk/>
            <pc:sldMk cId="659623700" sldId="267"/>
            <ac:spMk id="19" creationId="{8908EDFE-843E-12E4-96BA-239A5A42518C}"/>
          </ac:spMkLst>
        </pc:spChg>
        <pc:spChg chg="del mod">
          <ac:chgData name="Atharva Ghodki" userId="16f9cd1a53c40748" providerId="LiveId" clId="{AF92D854-5F1C-4893-8F66-3A0CFBDA44DF}" dt="2026-10-20T07:52:41.835" v="71" actId="21"/>
          <ac:spMkLst>
            <pc:docMk/>
            <pc:sldMk cId="659623700" sldId="267"/>
            <ac:spMk id="20" creationId="{4B910A81-4808-3D82-23D4-257D6ACB7F04}"/>
          </ac:spMkLst>
        </pc:spChg>
        <pc:spChg chg="del">
          <ac:chgData name="Atharva Ghodki" userId="16f9cd1a53c40748" providerId="LiveId" clId="{AF92D854-5F1C-4893-8F66-3A0CFBDA44DF}" dt="2026-10-20T07:53:28.653" v="81" actId="21"/>
          <ac:spMkLst>
            <pc:docMk/>
            <pc:sldMk cId="659623700" sldId="267"/>
            <ac:spMk id="21" creationId="{247A3E87-2649-DFA8-CB47-7052C1CA2776}"/>
          </ac:spMkLst>
        </pc:spChg>
        <pc:spChg chg="del mod">
          <ac:chgData name="Atharva Ghodki" userId="16f9cd1a53c40748" providerId="LiveId" clId="{AF92D854-5F1C-4893-8F66-3A0CFBDA44DF}" dt="2026-10-20T07:52:45.014" v="72" actId="21"/>
          <ac:spMkLst>
            <pc:docMk/>
            <pc:sldMk cId="659623700" sldId="267"/>
            <ac:spMk id="22" creationId="{9C53C902-7DE3-92C4-3138-CD3433C88D2F}"/>
          </ac:spMkLst>
        </pc:spChg>
        <pc:spChg chg="del">
          <ac:chgData name="Atharva Ghodki" userId="16f9cd1a53c40748" providerId="LiveId" clId="{AF92D854-5F1C-4893-8F66-3A0CFBDA44DF}" dt="2026-10-20T07:52:55.886" v="74" actId="21"/>
          <ac:spMkLst>
            <pc:docMk/>
            <pc:sldMk cId="659623700" sldId="267"/>
            <ac:spMk id="23" creationId="{C4F16096-B365-675D-CB03-EAE4240A9C7B}"/>
          </ac:spMkLst>
        </pc:spChg>
        <pc:spChg chg="del mod">
          <ac:chgData name="Atharva Ghodki" userId="16f9cd1a53c40748" providerId="LiveId" clId="{AF92D854-5F1C-4893-8F66-3A0CFBDA44DF}" dt="2026-10-20T07:52:51.888" v="73" actId="21"/>
          <ac:spMkLst>
            <pc:docMk/>
            <pc:sldMk cId="659623700" sldId="267"/>
            <ac:spMk id="24" creationId="{3EF790CE-D539-AF54-4B9B-2BAC5FD8A215}"/>
          </ac:spMkLst>
        </pc:spChg>
        <pc:spChg chg="del">
          <ac:chgData name="Atharva Ghodki" userId="16f9cd1a53c40748" providerId="LiveId" clId="{AF92D854-5F1C-4893-8F66-3A0CFBDA44DF}" dt="2026-10-20T07:53:06.290" v="76" actId="21"/>
          <ac:spMkLst>
            <pc:docMk/>
            <pc:sldMk cId="659623700" sldId="267"/>
            <ac:spMk id="25" creationId="{073EBF9C-CCAB-86C2-F1CE-F450F7D4F043}"/>
          </ac:spMkLst>
        </pc:spChg>
        <pc:spChg chg="del">
          <ac:chgData name="Atharva Ghodki" userId="16f9cd1a53c40748" providerId="LiveId" clId="{AF92D854-5F1C-4893-8F66-3A0CFBDA44DF}" dt="2026-10-20T07:53:10.014" v="77" actId="21"/>
          <ac:spMkLst>
            <pc:docMk/>
            <pc:sldMk cId="659623700" sldId="267"/>
            <ac:spMk id="26" creationId="{2DBDED47-5F6A-554F-C476-4D36F12CF4DE}"/>
          </ac:spMkLst>
        </pc:spChg>
        <pc:spChg chg="del">
          <ac:chgData name="Atharva Ghodki" userId="16f9cd1a53c40748" providerId="LiveId" clId="{AF92D854-5F1C-4893-8F66-3A0CFBDA44DF}" dt="2026-10-20T07:53:33.064" v="82" actId="21"/>
          <ac:spMkLst>
            <pc:docMk/>
            <pc:sldMk cId="659623700" sldId="267"/>
            <ac:spMk id="27" creationId="{58C890FA-3EEC-51ED-87F8-8E26A2623F32}"/>
          </ac:spMkLst>
        </pc:spChg>
        <pc:spChg chg="del">
          <ac:chgData name="Atharva Ghodki" userId="16f9cd1a53c40748" providerId="LiveId" clId="{AF92D854-5F1C-4893-8F66-3A0CFBDA44DF}" dt="2026-10-20T07:53:02.200" v="75" actId="21"/>
          <ac:spMkLst>
            <pc:docMk/>
            <pc:sldMk cId="659623700" sldId="267"/>
            <ac:spMk id="28" creationId="{F12AEF03-84AF-18E3-9440-7A2630E73A3E}"/>
          </ac:spMkLst>
        </pc:spChg>
        <pc:spChg chg="del">
          <ac:chgData name="Atharva Ghodki" userId="16f9cd1a53c40748" providerId="LiveId" clId="{AF92D854-5F1C-4893-8F66-3A0CFBDA44DF}" dt="2026-10-20T07:53:14.080" v="78" actId="21"/>
          <ac:spMkLst>
            <pc:docMk/>
            <pc:sldMk cId="659623700" sldId="267"/>
            <ac:spMk id="29" creationId="{B81CBC97-B5AE-AA50-2F60-D4D85CFEC960}"/>
          </ac:spMkLst>
        </pc:spChg>
        <pc:spChg chg="del">
          <ac:chgData name="Atharva Ghodki" userId="16f9cd1a53c40748" providerId="LiveId" clId="{AF92D854-5F1C-4893-8F66-3A0CFBDA44DF}" dt="2026-10-20T07:53:20.028" v="79" actId="21"/>
          <ac:spMkLst>
            <pc:docMk/>
            <pc:sldMk cId="659623700" sldId="267"/>
            <ac:spMk id="30" creationId="{D72AD5B2-F309-A2C5-FD99-0B2376B6C383}"/>
          </ac:spMkLst>
        </pc:spChg>
        <pc:spChg chg="mod">
          <ac:chgData name="Atharva Ghodki" userId="16f9cd1a53c40748" providerId="LiveId" clId="{AF92D854-5F1C-4893-8F66-3A0CFBDA44DF}" dt="2026-10-20T07:49:08.319" v="28" actId="20577"/>
          <ac:spMkLst>
            <pc:docMk/>
            <pc:sldMk cId="659623700" sldId="267"/>
            <ac:spMk id="31" creationId="{C2B72D68-B12B-5779-130E-F27D03A3F9E8}"/>
          </ac:spMkLst>
        </pc:spChg>
        <pc:spChg chg="mod">
          <ac:chgData name="Atharva Ghodki" userId="16f9cd1a53c40748" providerId="LiveId" clId="{AF92D854-5F1C-4893-8F66-3A0CFBDA44DF}" dt="2026-10-20T07:56:31.743" v="103" actId="1076"/>
          <ac:spMkLst>
            <pc:docMk/>
            <pc:sldMk cId="659623700" sldId="267"/>
            <ac:spMk id="32" creationId="{BD1A0D04-1170-BDEA-676A-99DB860A1C19}"/>
          </ac:spMkLst>
        </pc:spChg>
      </pc:sldChg>
      <pc:sldChg chg="new del">
        <pc:chgData name="Atharva Ghodki" userId="16f9cd1a53c40748" providerId="LiveId" clId="{AF92D854-5F1C-4893-8F66-3A0CFBDA44DF}" dt="2026-10-20T07:47:51.806" v="1" actId="47"/>
        <pc:sldMkLst>
          <pc:docMk/>
          <pc:sldMk cId="3970713694" sldId="26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7243A"/>
                </a:solidFill>
                <a:latin typeface="Calibri"/>
              </a:defRPr>
            </a:pPr>
            <a:r>
              <a:rPr lang="en-US" sz="1100" b="0" i="0" u="none" strike="noStrike">
                <a:solidFill>
                  <a:srgbClr val="17243A"/>
                </a:solidFill>
                <a:latin typeface="Calibri"/>
              </a:rPr>
              <a:t>Illustrative asymptotic comparison (not measured data)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n³ (conventional)</c:v>
                </c:pt>
              </c:strCache>
            </c:strRef>
          </c:tx>
          <c:spPr>
            <a:ln w="38100" cap="flat">
              <a:solidFill>
                <a:srgbClr val="E98773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  <c:pt idx="6">
                  <c:v>14</c:v>
                </c:pt>
                <c:pt idx="7">
                  <c:v>16</c:v>
                </c:pt>
                <c:pt idx="8">
                  <c:v>18</c:v>
                </c:pt>
                <c:pt idx="9">
                  <c:v>20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</c:v>
                </c:pt>
                <c:pt idx="1">
                  <c:v>64</c:v>
                </c:pt>
                <c:pt idx="2">
                  <c:v>216</c:v>
                </c:pt>
                <c:pt idx="3">
                  <c:v>512</c:v>
                </c:pt>
                <c:pt idx="4">
                  <c:v>1000</c:v>
                </c:pt>
                <c:pt idx="5">
                  <c:v>1728</c:v>
                </c:pt>
                <c:pt idx="6">
                  <c:v>2744</c:v>
                </c:pt>
                <c:pt idx="7">
                  <c:v>4096</c:v>
                </c:pt>
                <c:pt idx="8">
                  <c:v>5832</c:v>
                </c:pt>
                <c:pt idx="9">
                  <c:v>8000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5D7-4BB0-844F-A06A13612C8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n^2.8074 (Strassen)</c:v>
                </c:pt>
              </c:strCache>
            </c:strRef>
          </c:tx>
          <c:spPr>
            <a:ln w="38100" cap="flat">
              <a:solidFill>
                <a:srgbClr val="159A91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Sheet1!$A$2:$A$11</c:f>
              <c:strCache>
                <c:ptCount val="10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8</c:v>
                </c:pt>
                <c:pt idx="4">
                  <c:v>10</c:v>
                </c:pt>
                <c:pt idx="5">
                  <c:v>12</c:v>
                </c:pt>
                <c:pt idx="6">
                  <c:v>14</c:v>
                </c:pt>
                <c:pt idx="7">
                  <c:v>16</c:v>
                </c:pt>
                <c:pt idx="8">
                  <c:v>18</c:v>
                </c:pt>
                <c:pt idx="9">
                  <c:v>20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7</c:v>
                </c:pt>
                <c:pt idx="1">
                  <c:v>49</c:v>
                </c:pt>
                <c:pt idx="2">
                  <c:v>153</c:v>
                </c:pt>
                <c:pt idx="3">
                  <c:v>343</c:v>
                </c:pt>
                <c:pt idx="4">
                  <c:v>641.79999999999995</c:v>
                </c:pt>
                <c:pt idx="5">
                  <c:v>1070.8</c:v>
                </c:pt>
                <c:pt idx="6">
                  <c:v>1650.6</c:v>
                </c:pt>
                <c:pt idx="7">
                  <c:v>2401.3000000000002</c:v>
                </c:pt>
                <c:pt idx="8">
                  <c:v>3342.4</c:v>
                </c:pt>
                <c:pt idx="9">
                  <c:v>4492.7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5D7-4BB0-844F-A06A13612C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03744"/>
                    </a:solidFill>
                    <a:latin typeface="Calibri"/>
                  </a:defRPr>
                </a:pPr>
                <a:r>
                  <a:rPr lang="en-IN" sz="1100" b="0" i="0" u="none" strike="noStrike">
                    <a:solidFill>
                      <a:srgbClr val="303744"/>
                    </a:solidFill>
                    <a:latin typeface="Calibri"/>
                  </a:rPr>
                  <a:t>Matrix Size (n)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0374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C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03744"/>
                    </a:solidFill>
                    <a:latin typeface="Calibri"/>
                  </a:defRPr>
                </a:pPr>
                <a:r>
                  <a:rPr lang="en-IN" sz="1100" b="0" i="0" u="none" strike="noStrike">
                    <a:solidFill>
                      <a:srgbClr val="303744"/>
                    </a:solidFill>
                    <a:latin typeface="Calibri"/>
                  </a:rPr>
                  <a:t>Relative Growth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0374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0374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5970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topic: a faster way to multiply matrices using divide and conquer.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Conventional multiplication: n² entries, each needing n multiplications, so O(n³).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Idea: split into blocks; 8 block products become 7, at the cost of extra additions.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Partition A and B into four n/2 × n/2 blocks.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four products M1 to M4.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three products M5 to M7. Seven in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Combine the products into C11, C12, C21, C22, then assemble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flowchart, then the pseudocode.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Recurrence T(n)=7T(n/2)+O(n²) gives O(n^log2 7) ≈ O(n^2.8074). The graph is illustrative, not measured.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Balanced view: advantages, limitations and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takeaways and the closing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02B82-7E35-9833-8E15-933C68CA3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8D7E11-39A1-F9A4-FF9F-FF6EEE152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731CB1-01EE-5295-4F03-836F723D15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takeaways and the closing statement.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AFB82D-6ECD-70C4-A57A-9D5BEDE1EE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415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FD3C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FD3C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775" y="848394"/>
            <a:ext cx="6390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8FD3C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DESIGN AND ANALYSIS OF ALGORITHMS (DAA)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30775" y="171450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Strassen’s Matrix Multiplication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30775" y="284607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D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Divide-and-Conquer Approach to Faster Matrix Multiplication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389763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D3C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Atharva Ghodki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8FD3C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Section - D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rgbClr val="8FD3C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PRN - 25070521209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617720" y="1828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77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166360" y="1828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98773"/>
          </a:solidFill>
          <a:ln w="12700">
            <a:solidFill>
              <a:srgbClr val="E9877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663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617720" y="23774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8FD3CD"/>
          </a:solidFill>
          <a:ln w="12700">
            <a:solidFill>
              <a:srgbClr val="8FD3C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166360" y="23774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5C2B6"/>
          </a:solidFill>
          <a:ln w="12700">
            <a:solidFill>
              <a:srgbClr val="F5C2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663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0175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035040" y="1828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350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583680" y="1828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98773"/>
          </a:solidFill>
          <a:ln w="12700">
            <a:solidFill>
              <a:srgbClr val="E9877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035040" y="23774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8FD3CD"/>
          </a:solidFill>
          <a:ln w="12700">
            <a:solidFill>
              <a:srgbClr val="8FD3C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583680" y="23774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5C2B6"/>
          </a:solidFill>
          <a:ln w="12700">
            <a:solidFill>
              <a:srgbClr val="F5C2B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035040" y="30175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498080" y="1828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980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046720" y="1828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E98773"/>
          </a:solidFill>
          <a:ln w="12700">
            <a:solidFill>
              <a:srgbClr val="E9877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498080" y="23774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8FD3CD"/>
          </a:solidFill>
          <a:ln w="12700">
            <a:solidFill>
              <a:srgbClr val="8FD3C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980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046720" y="23774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5C2B6"/>
          </a:solidFill>
          <a:ln w="12700">
            <a:solidFill>
              <a:srgbClr val="F5C2B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467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498080" y="3017520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0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600" dirty="0"/>
          </a:p>
        </p:txBody>
      </p:sp>
      <p:sp>
        <p:nvSpPr>
          <p:cNvPr id="34" name="Text 32"/>
          <p:cNvSpPr txBox="1"/>
          <p:nvPr/>
        </p:nvSpPr>
        <p:spPr>
          <a:xfrm>
            <a:off x="7086600" y="21031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43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The Problem with Conventional Multiplication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 flipV="1">
            <a:off x="457200" y="893266"/>
            <a:ext cx="3204023" cy="45719"/>
          </a:xfrm>
          <a:prstGeom prst="rect">
            <a:avLst/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Strassen’s Matrix Multiplication  |  Atharva Ghodki  |  25070521209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335024" y="137160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35024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2066544"/>
            <a:ext cx="640080" cy="640080"/>
          </a:xfrm>
          <a:prstGeom prst="roundRect">
            <a:avLst>
              <a:gd name="adj" fmla="val 8571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0665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037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335024" y="2066544"/>
            <a:ext cx="640080" cy="640080"/>
          </a:xfrm>
          <a:prstGeom prst="roundRect">
            <a:avLst>
              <a:gd name="adj" fmla="val 8571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335024" y="20665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037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1371600"/>
            <a:ext cx="0" cy="1335024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371600"/>
            <a:ext cx="73152" cy="0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706624"/>
            <a:ext cx="73152" cy="0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66544" y="1371600"/>
            <a:ext cx="0" cy="1335024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93392" y="1371600"/>
            <a:ext cx="73152" cy="0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93392" y="2706624"/>
            <a:ext cx="73152" cy="0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137160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E98773"/>
          </a:solidFill>
          <a:ln w="12700">
            <a:solidFill>
              <a:srgbClr val="E9877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4320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24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438144" y="137160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38144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037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43200" y="2066544"/>
            <a:ext cx="640080" cy="640080"/>
          </a:xfrm>
          <a:prstGeom prst="roundRect">
            <a:avLst>
              <a:gd name="adj" fmla="val 8571"/>
            </a:avLst>
          </a:prstGeom>
          <a:solidFill>
            <a:srgbClr val="E98773"/>
          </a:solidFill>
          <a:ln w="12700">
            <a:solidFill>
              <a:srgbClr val="E9877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743200" y="20665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24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438144" y="2066544"/>
            <a:ext cx="640080" cy="640080"/>
          </a:xfrm>
          <a:prstGeom prst="roundRect">
            <a:avLst>
              <a:gd name="adj" fmla="val 8571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38144" y="20665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037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651760" y="1371600"/>
            <a:ext cx="0" cy="1335024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51760" y="1371600"/>
            <a:ext cx="73152" cy="0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51760" y="2706624"/>
            <a:ext cx="73152" cy="0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69664" y="1371600"/>
            <a:ext cx="0" cy="1335024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96512" y="1371600"/>
            <a:ext cx="73152" cy="0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96512" y="2706624"/>
            <a:ext cx="73152" cy="0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137160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463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19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541264" y="1371600"/>
            <a:ext cx="640080" cy="640080"/>
          </a:xfrm>
          <a:prstGeom prst="roundRect">
            <a:avLst>
              <a:gd name="adj" fmla="val 8571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541264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037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846320" y="2066544"/>
            <a:ext cx="640080" cy="640080"/>
          </a:xfrm>
          <a:prstGeom prst="roundRect">
            <a:avLst>
              <a:gd name="adj" fmla="val 8571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846320" y="20665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037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541264" y="2066544"/>
            <a:ext cx="640080" cy="640080"/>
          </a:xfrm>
          <a:prstGeom prst="roundRect">
            <a:avLst>
              <a:gd name="adj" fmla="val 8571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541264" y="20665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037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50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754880" y="1371600"/>
            <a:ext cx="0" cy="1335024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1371600"/>
            <a:ext cx="73152" cy="0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2706624"/>
            <a:ext cx="73152" cy="0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72784" y="1371600"/>
            <a:ext cx="0" cy="1335024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99632" y="1371600"/>
            <a:ext cx="73152" cy="0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99632" y="2706624"/>
            <a:ext cx="73152" cy="0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1031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3037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×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4206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3037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=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7"/>
          <p:cNvSpPr txBox="1"/>
          <p:nvPr/>
        </p:nvSpPr>
        <p:spPr>
          <a:xfrm>
            <a:off x="640080" y="278892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9A91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A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48"/>
          <p:cNvSpPr txBox="1"/>
          <p:nvPr/>
        </p:nvSpPr>
        <p:spPr>
          <a:xfrm>
            <a:off x="2743200" y="278892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8773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B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9"/>
          <p:cNvSpPr txBox="1"/>
          <p:nvPr/>
        </p:nvSpPr>
        <p:spPr>
          <a:xfrm>
            <a:off x="4846320" y="2788920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43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C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50"/>
          <p:cNvSpPr txBox="1"/>
          <p:nvPr/>
        </p:nvSpPr>
        <p:spPr>
          <a:xfrm>
            <a:off x="457200" y="3108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59A9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Row 1 of A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51"/>
          <p:cNvSpPr txBox="1"/>
          <p:nvPr/>
        </p:nvSpPr>
        <p:spPr>
          <a:xfrm>
            <a:off x="2560320" y="3108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4604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Column 1 of B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1280160" y="3401568"/>
            <a:ext cx="1371600" cy="365760"/>
          </a:xfrm>
          <a:prstGeom prst="line">
            <a:avLst/>
          </a:prstGeom>
          <a:noFill/>
          <a:ln w="28575">
            <a:solidFill>
              <a:srgbClr val="159A91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 flipH="1">
            <a:off x="3017520" y="3401568"/>
            <a:ext cx="365760" cy="365760"/>
          </a:xfrm>
          <a:prstGeom prst="line">
            <a:avLst/>
          </a:prstGeom>
          <a:noFill/>
          <a:ln w="28575">
            <a:solidFill>
              <a:srgbClr val="E98773"/>
            </a:solidFill>
            <a:prstDash val="solid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1097280" y="3794760"/>
            <a:ext cx="3840480" cy="548640"/>
          </a:xfrm>
          <a:prstGeom prst="roundRect">
            <a:avLst>
              <a:gd name="adj" fmla="val 16667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097280" y="37947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</a:t>
            </a:r>
            <a:r>
              <a:rPr lang="en-US" sz="1600" b="1" baseline="-400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11</a:t>
            </a: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= (1 x 5) + (2 x 7) = 19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4937760" y="4069080"/>
            <a:ext cx="548640" cy="0"/>
          </a:xfrm>
          <a:prstGeom prst="line">
            <a:avLst/>
          </a:prstGeom>
          <a:noFill/>
          <a:ln w="28575">
            <a:solidFill>
              <a:srgbClr val="17243A"/>
            </a:solidFill>
            <a:prstDash val="solid"/>
            <a:tailEnd type="triangle"/>
          </a:ln>
        </p:spPr>
      </p:sp>
      <p:sp>
        <p:nvSpPr>
          <p:cNvPr id="59" name="Text 57"/>
          <p:cNvSpPr txBox="1"/>
          <p:nvPr/>
        </p:nvSpPr>
        <p:spPr>
          <a:xfrm>
            <a:off x="5532120" y="39319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Entry in C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6583679" y="1371600"/>
            <a:ext cx="2377437" cy="2697480"/>
          </a:xfrm>
          <a:prstGeom prst="roundRect">
            <a:avLst>
              <a:gd name="adj" fmla="val 4348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1" name="Text 59"/>
          <p:cNvSpPr txBox="1"/>
          <p:nvPr/>
        </p:nvSpPr>
        <p:spPr>
          <a:xfrm>
            <a:off x="6743700" y="1517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9A9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entry 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 60"/>
          <p:cNvSpPr txBox="1"/>
          <p:nvPr/>
        </p:nvSpPr>
        <p:spPr>
          <a:xfrm>
            <a:off x="6693408" y="1839246"/>
            <a:ext cx="21780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C[i][j] = Σ (A[i][k]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14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· B[k][j])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61"/>
          <p:cNvSpPr txBox="1"/>
          <p:nvPr/>
        </p:nvSpPr>
        <p:spPr>
          <a:xfrm>
            <a:off x="6675119" y="2340864"/>
            <a:ext cx="228599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037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</a:t>
            </a:r>
            <a:r>
              <a:rPr lang="en-US" sz="1300" baseline="30000" dirty="0">
                <a:solidFill>
                  <a:srgbClr val="3037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r>
              <a:rPr lang="en-US" sz="1300" dirty="0">
                <a:solidFill>
                  <a:srgbClr val="3037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entries × n multiplications each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62"/>
          <p:cNvSpPr txBox="1"/>
          <p:nvPr/>
        </p:nvSpPr>
        <p:spPr>
          <a:xfrm>
            <a:off x="6693408" y="3246120"/>
            <a:ext cx="2212844" cy="460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b="1" dirty="0">
              <a:solidFill>
                <a:srgbClr val="17243A"/>
              </a:solidFill>
              <a:latin typeface="Times New Roman" panose="02020603050405020304" pitchFamily="18" charset="0"/>
              <a:ea typeface="Georgia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200" b="1" dirty="0">
                <a:solidFill>
                  <a:srgbClr val="17243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T(n) = O(n</a:t>
            </a:r>
            <a:r>
              <a:rPr lang="en-US" sz="2200" b="1" baseline="30000" dirty="0">
                <a:solidFill>
                  <a:srgbClr val="17243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3</a:t>
            </a:r>
            <a:r>
              <a:rPr lang="en-US" sz="2200" b="1" dirty="0">
                <a:solidFill>
                  <a:srgbClr val="17243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0337937-6A4C-BAB3-2137-A652DD5483F2}"/>
              </a:ext>
            </a:extLst>
          </p:cNvPr>
          <p:cNvSpPr txBox="1"/>
          <p:nvPr/>
        </p:nvSpPr>
        <p:spPr>
          <a:xfrm>
            <a:off x="6583679" y="3015522"/>
            <a:ext cx="2048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43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Strassen’s Core Idea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 flipV="1">
            <a:off x="457201" y="886969"/>
            <a:ext cx="1399031" cy="45719"/>
          </a:xfrm>
          <a:prstGeom prst="rect">
            <a:avLst/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Strassen’s Matrix Multiplication  |  Atharva Ghodki  |  25070521209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E9877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Conventional block method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143000" y="1783080"/>
            <a:ext cx="384048" cy="384048"/>
          </a:xfrm>
          <a:prstGeom prst="ellipse">
            <a:avLst/>
          </a:prstGeom>
          <a:solidFill>
            <a:srgbClr val="E98773"/>
          </a:solidFill>
          <a:ln w="12700">
            <a:solidFill>
              <a:srgbClr val="E9877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4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×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856232" y="1783080"/>
            <a:ext cx="384048" cy="384048"/>
          </a:xfrm>
          <a:prstGeom prst="ellipse">
            <a:avLst/>
          </a:prstGeom>
          <a:solidFill>
            <a:srgbClr val="E98773"/>
          </a:solidFill>
          <a:ln w="12700">
            <a:solidFill>
              <a:srgbClr val="E9877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856232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4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×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569464" y="1783080"/>
            <a:ext cx="384048" cy="384048"/>
          </a:xfrm>
          <a:prstGeom prst="ellipse">
            <a:avLst/>
          </a:prstGeom>
          <a:solidFill>
            <a:srgbClr val="E98773"/>
          </a:solidFill>
          <a:ln w="12700">
            <a:solidFill>
              <a:srgbClr val="E9877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569464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4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×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282696" y="1783080"/>
            <a:ext cx="384048" cy="384048"/>
          </a:xfrm>
          <a:prstGeom prst="ellipse">
            <a:avLst/>
          </a:prstGeom>
          <a:solidFill>
            <a:srgbClr val="E98773"/>
          </a:solidFill>
          <a:ln w="12700">
            <a:solidFill>
              <a:srgbClr val="E9877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82696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4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×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143000" y="2286000"/>
            <a:ext cx="384048" cy="384048"/>
          </a:xfrm>
          <a:prstGeom prst="ellipse">
            <a:avLst/>
          </a:prstGeom>
          <a:solidFill>
            <a:srgbClr val="E98773"/>
          </a:solidFill>
          <a:ln w="12700">
            <a:solidFill>
              <a:srgbClr val="E9877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4300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4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×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856232" y="2286000"/>
            <a:ext cx="384048" cy="384048"/>
          </a:xfrm>
          <a:prstGeom prst="ellipse">
            <a:avLst/>
          </a:prstGeom>
          <a:solidFill>
            <a:srgbClr val="E98773"/>
          </a:solidFill>
          <a:ln w="12700">
            <a:solidFill>
              <a:srgbClr val="E9877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856232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4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×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569464" y="2286000"/>
            <a:ext cx="384048" cy="384048"/>
          </a:xfrm>
          <a:prstGeom prst="ellipse">
            <a:avLst/>
          </a:prstGeom>
          <a:solidFill>
            <a:srgbClr val="E98773"/>
          </a:solidFill>
          <a:ln w="12700">
            <a:solidFill>
              <a:srgbClr val="E9877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69464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4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×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282696" y="2286000"/>
            <a:ext cx="384048" cy="384048"/>
          </a:xfrm>
          <a:prstGeom prst="ellipse">
            <a:avLst/>
          </a:prstGeom>
          <a:solidFill>
            <a:srgbClr val="E98773"/>
          </a:solidFill>
          <a:ln w="12700">
            <a:solidFill>
              <a:srgbClr val="E9877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82696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4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×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640080" y="2834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4604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 recursive multiplications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54880" y="1188720"/>
            <a:ext cx="39319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25400">
            <a:solidFill>
              <a:srgbClr val="159A9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3776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Strassen’s method (1969)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440680" y="1783080"/>
            <a:ext cx="384048" cy="384048"/>
          </a:xfrm>
          <a:prstGeom prst="ellipse">
            <a:avLst/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4068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×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153912" y="1783080"/>
            <a:ext cx="384048" cy="384048"/>
          </a:xfrm>
          <a:prstGeom prst="ellipse">
            <a:avLst/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153912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×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867144" y="1783080"/>
            <a:ext cx="384048" cy="384048"/>
          </a:xfrm>
          <a:prstGeom prst="ellipse">
            <a:avLst/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67144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×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580376" y="1783080"/>
            <a:ext cx="384048" cy="384048"/>
          </a:xfrm>
          <a:prstGeom prst="ellipse">
            <a:avLst/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580376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×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440680" y="2286000"/>
            <a:ext cx="384048" cy="384048"/>
          </a:xfrm>
          <a:prstGeom prst="ellipse">
            <a:avLst/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4068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×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153912" y="2286000"/>
            <a:ext cx="384048" cy="384048"/>
          </a:xfrm>
          <a:prstGeom prst="ellipse">
            <a:avLst/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153912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×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867144" y="2286000"/>
            <a:ext cx="384048" cy="384048"/>
          </a:xfrm>
          <a:prstGeom prst="ellipse">
            <a:avLst/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867144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×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580376" y="2286000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98773"/>
            </a:solidFill>
            <a:prstDash val="dash"/>
          </a:ln>
        </p:spPr>
      </p:sp>
      <p:sp>
        <p:nvSpPr>
          <p:cNvPr id="41" name="Text 39"/>
          <p:cNvSpPr txBox="1"/>
          <p:nvPr/>
        </p:nvSpPr>
        <p:spPr>
          <a:xfrm>
            <a:off x="4937760" y="2834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9A9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 recursive multiplications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57200" y="3474720"/>
            <a:ext cx="2651760" cy="594360"/>
          </a:xfrm>
          <a:prstGeom prst="roundRect">
            <a:avLst>
              <a:gd name="adj" fmla="val 15385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66928" y="3611880"/>
            <a:ext cx="320040" cy="320040"/>
          </a:xfrm>
          <a:prstGeom prst="ellipse">
            <a:avLst/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66928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 txBox="1"/>
          <p:nvPr/>
        </p:nvSpPr>
        <p:spPr>
          <a:xfrm>
            <a:off x="987552" y="34747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4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Divide each matrix into 4 blocks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3246120" y="3474720"/>
            <a:ext cx="2651760" cy="594360"/>
          </a:xfrm>
          <a:prstGeom prst="roundRect">
            <a:avLst>
              <a:gd name="adj" fmla="val 15385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55848" y="3611880"/>
            <a:ext cx="320040" cy="320040"/>
          </a:xfrm>
          <a:prstGeom prst="ellipse">
            <a:avLst/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3355848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7"/>
          <p:cNvSpPr txBox="1"/>
          <p:nvPr/>
        </p:nvSpPr>
        <p:spPr>
          <a:xfrm>
            <a:off x="3776472" y="34747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4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Compute 7 chosen products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035040" y="3474720"/>
            <a:ext cx="2651760" cy="594360"/>
          </a:xfrm>
          <a:prstGeom prst="roundRect">
            <a:avLst>
              <a:gd name="adj" fmla="val 15385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44768" y="3611880"/>
            <a:ext cx="320040" cy="320040"/>
          </a:xfrm>
          <a:prstGeom prst="ellipse">
            <a:avLst/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144768" y="3611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51"/>
          <p:cNvSpPr txBox="1"/>
          <p:nvPr/>
        </p:nvSpPr>
        <p:spPr>
          <a:xfrm>
            <a:off x="6565392" y="347472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24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Combine them into 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52"/>
          <p:cNvSpPr txBox="1"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037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saving costs extra matrix additions and subtractions, which take only O(n</a:t>
            </a:r>
            <a:r>
              <a:rPr lang="en-US" sz="1300" baseline="30000" dirty="0">
                <a:solidFill>
                  <a:srgbClr val="3037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r>
              <a:rPr lang="en-US" sz="1300" dirty="0">
                <a:solidFill>
                  <a:srgbClr val="3037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 work.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43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Dividing Matrices into Blocks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444739" cy="45719"/>
          </a:xfrm>
          <a:prstGeom prst="rect">
            <a:avLst/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Strassen’s Matrix Multiplication  |  Atharva Ghodki  |  25070521209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1371600" cy="960120"/>
          </a:xfrm>
          <a:prstGeom prst="roundRect">
            <a:avLst>
              <a:gd name="adj" fmla="val 5714"/>
            </a:avLst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4173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</a:t>
            </a:r>
            <a:r>
              <a:rPr lang="en-US" sz="2000" b="1" baseline="-400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249424" y="1417320"/>
            <a:ext cx="1371600" cy="960120"/>
          </a:xfrm>
          <a:prstGeom prst="roundRect">
            <a:avLst>
              <a:gd name="adj" fmla="val 5714"/>
            </a:avLst>
          </a:prstGeom>
          <a:solidFill>
            <a:srgbClr val="E98773"/>
          </a:solidFill>
          <a:ln w="12700">
            <a:solidFill>
              <a:srgbClr val="E9877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49424" y="14173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</a:t>
            </a:r>
            <a:r>
              <a:rPr lang="en-US" sz="20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2432304"/>
            <a:ext cx="1371600" cy="960120"/>
          </a:xfrm>
          <a:prstGeom prst="roundRect">
            <a:avLst>
              <a:gd name="adj" fmla="val 5714"/>
            </a:avLst>
          </a:prstGeom>
          <a:solidFill>
            <a:srgbClr val="8FD3CD"/>
          </a:solidFill>
          <a:ln w="12700">
            <a:solidFill>
              <a:srgbClr val="8FD3C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432304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</a:t>
            </a:r>
            <a:r>
              <a:rPr lang="en-US" sz="20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249424" y="2432304"/>
            <a:ext cx="1371600" cy="960120"/>
          </a:xfrm>
          <a:prstGeom prst="roundRect">
            <a:avLst>
              <a:gd name="adj" fmla="val 5714"/>
            </a:avLst>
          </a:prstGeom>
          <a:solidFill>
            <a:srgbClr val="F5C2B6"/>
          </a:solidFill>
          <a:ln w="12700">
            <a:solidFill>
              <a:srgbClr val="F5C2B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49424" y="2432304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</a:t>
            </a:r>
            <a:r>
              <a:rPr lang="en-US" sz="20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29200" y="1417320"/>
            <a:ext cx="1371600" cy="960120"/>
          </a:xfrm>
          <a:prstGeom prst="roundRect">
            <a:avLst>
              <a:gd name="adj" fmla="val 5714"/>
            </a:avLst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0" y="14173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</a:t>
            </a:r>
            <a:r>
              <a:rPr lang="en-US" sz="2000" b="1" baseline="-400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55664" y="1417320"/>
            <a:ext cx="1371600" cy="960120"/>
          </a:xfrm>
          <a:prstGeom prst="roundRect">
            <a:avLst>
              <a:gd name="adj" fmla="val 5714"/>
            </a:avLst>
          </a:prstGeom>
          <a:solidFill>
            <a:srgbClr val="E98773"/>
          </a:solidFill>
          <a:ln w="12700">
            <a:solidFill>
              <a:srgbClr val="E9877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55664" y="14173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</a:t>
            </a:r>
            <a:r>
              <a:rPr lang="en-US" sz="20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029200" y="2432304"/>
            <a:ext cx="1371600" cy="960120"/>
          </a:xfrm>
          <a:prstGeom prst="roundRect">
            <a:avLst>
              <a:gd name="adj" fmla="val 5714"/>
            </a:avLst>
          </a:prstGeom>
          <a:solidFill>
            <a:srgbClr val="8FD3CD"/>
          </a:solidFill>
          <a:ln w="12700">
            <a:solidFill>
              <a:srgbClr val="8FD3C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0" y="2432304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</a:t>
            </a:r>
            <a:r>
              <a:rPr lang="en-US" sz="20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55664" y="2432304"/>
            <a:ext cx="1371600" cy="960120"/>
          </a:xfrm>
          <a:prstGeom prst="roundRect">
            <a:avLst>
              <a:gd name="adj" fmla="val 5714"/>
            </a:avLst>
          </a:prstGeom>
          <a:solidFill>
            <a:srgbClr val="F5C2B6"/>
          </a:solidFill>
          <a:ln w="12700">
            <a:solidFill>
              <a:srgbClr val="F5C2B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55664" y="2432304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</a:t>
            </a:r>
            <a:r>
              <a:rPr lang="en-US" sz="20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31520" y="1417320"/>
            <a:ext cx="0" cy="1975104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1417320"/>
            <a:ext cx="73152" cy="0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" y="3392424"/>
            <a:ext cx="73152" cy="0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12464" y="1417320"/>
            <a:ext cx="0" cy="1975104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39312" y="1417320"/>
            <a:ext cx="73152" cy="0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39312" y="3392424"/>
            <a:ext cx="73152" cy="0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1417320"/>
            <a:ext cx="0" cy="1975104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1417320"/>
            <a:ext cx="73152" cy="0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37760" y="3392424"/>
            <a:ext cx="73152" cy="0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18704" y="1417320"/>
            <a:ext cx="0" cy="1975104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845552" y="1417320"/>
            <a:ext cx="73152" cy="0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45552" y="3392424"/>
            <a:ext cx="73152" cy="0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2960" y="1069848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43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A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5029200" y="1069848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43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B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3959352" y="206654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3037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×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822960" y="347472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57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 × 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5029200" y="3474720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57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 × n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57200" y="384048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block is n/2 × n/2 : half the size in each dimension (assuming n is evenly divisible by 2)</a:t>
            </a:r>
            <a:endParaRPr lang="en-US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43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Intermediate Products M</a:t>
            </a:r>
            <a:r>
              <a:rPr lang="en-US" sz="28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1</a:t>
            </a:r>
            <a:r>
              <a:rPr lang="en-US" sz="2800" b="1" dirty="0">
                <a:solidFill>
                  <a:srgbClr val="17243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 to M</a:t>
            </a:r>
            <a:r>
              <a:rPr lang="en-US" sz="28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4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764792" cy="45719"/>
          </a:xfrm>
          <a:prstGeom prst="rect">
            <a:avLst/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Strassen’s Matrix Multiplication  |  Atharva Ghodki  |  25070521209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037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Each product multiplies a sum or difference of blocks, chosen so that only 7 products are needed.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00200"/>
            <a:ext cx="91440" cy="1325880"/>
          </a:xfrm>
          <a:prstGeom prst="rect">
            <a:avLst/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691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</a:t>
            </a:r>
            <a:r>
              <a:rPr lang="en-US" sz="19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</a:t>
            </a:r>
            <a:r>
              <a:rPr lang="en-US" sz="19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= (A</a:t>
            </a:r>
            <a:r>
              <a:rPr lang="en-US" sz="19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11</a:t>
            </a:r>
            <a:r>
              <a:rPr lang="en-US" sz="19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+ A</a:t>
            </a:r>
            <a:r>
              <a:rPr lang="en-US" sz="19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22</a:t>
            </a:r>
            <a:r>
              <a:rPr lang="en-US" sz="19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)(B</a:t>
            </a:r>
            <a:r>
              <a:rPr lang="en-US" sz="19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11</a:t>
            </a:r>
            <a:r>
              <a:rPr lang="en-US" sz="19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+ B</a:t>
            </a:r>
            <a:r>
              <a:rPr lang="en-US" sz="19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22</a:t>
            </a:r>
            <a:r>
              <a:rPr lang="en-US" sz="19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)</a:t>
            </a: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31520" y="2514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blocks used: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600200" y="2514600"/>
            <a:ext cx="530352" cy="274320"/>
          </a:xfrm>
          <a:prstGeom prst="roundRect">
            <a:avLst>
              <a:gd name="adj" fmla="val 20000"/>
            </a:avLst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600200" y="251460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</a:t>
            </a:r>
            <a:r>
              <a:rPr lang="en-US" sz="1000" b="1" baseline="-400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221992" y="2514600"/>
            <a:ext cx="530352" cy="274320"/>
          </a:xfrm>
          <a:prstGeom prst="roundRect">
            <a:avLst>
              <a:gd name="adj" fmla="val 20000"/>
            </a:avLst>
          </a:prstGeom>
          <a:solidFill>
            <a:srgbClr val="F5C2B6"/>
          </a:solidFill>
          <a:ln w="12700">
            <a:solidFill>
              <a:srgbClr val="F5C2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21992" y="251460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</a:t>
            </a:r>
            <a:r>
              <a:rPr lang="en-US" sz="10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843784" y="2514600"/>
            <a:ext cx="530352" cy="274320"/>
          </a:xfrm>
          <a:prstGeom prst="roundRect">
            <a:avLst>
              <a:gd name="adj" fmla="val 20000"/>
            </a:avLst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43784" y="251460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</a:t>
            </a:r>
            <a:r>
              <a:rPr lang="en-US" sz="1000" b="1" baseline="-400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465576" y="2514600"/>
            <a:ext cx="530352" cy="274320"/>
          </a:xfrm>
          <a:prstGeom prst="roundRect">
            <a:avLst>
              <a:gd name="adj" fmla="val 20000"/>
            </a:avLst>
          </a:prstGeom>
          <a:solidFill>
            <a:srgbClr val="F5C2B6"/>
          </a:solidFill>
          <a:ln w="12700">
            <a:solidFill>
              <a:srgbClr val="F5C2B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65576" y="251460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</a:t>
            </a:r>
            <a:r>
              <a:rPr lang="en-US" sz="10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63440" y="160020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600200"/>
            <a:ext cx="91440" cy="1325880"/>
          </a:xfrm>
          <a:prstGeom prst="rect">
            <a:avLst/>
          </a:prstGeom>
          <a:solidFill>
            <a:srgbClr val="E98773"/>
          </a:solidFill>
          <a:ln w="12700">
            <a:solidFill>
              <a:srgbClr val="E9877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16916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</a:t>
            </a:r>
            <a:r>
              <a:rPr lang="en-US" sz="22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</a:t>
            </a:r>
            <a:r>
              <a:rPr lang="en-US" sz="22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= (A</a:t>
            </a:r>
            <a:r>
              <a:rPr lang="en-US" sz="22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21</a:t>
            </a:r>
            <a:r>
              <a:rPr lang="en-US" sz="22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+ A</a:t>
            </a:r>
            <a:r>
              <a:rPr lang="en-US" sz="22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22</a:t>
            </a:r>
            <a:r>
              <a:rPr lang="en-US" sz="22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)B</a:t>
            </a:r>
            <a:r>
              <a:rPr lang="en-US" sz="22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11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4937760" y="2514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blocks used: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806440" y="2514600"/>
            <a:ext cx="530352" cy="274320"/>
          </a:xfrm>
          <a:prstGeom prst="roundRect">
            <a:avLst>
              <a:gd name="adj" fmla="val 20000"/>
            </a:avLst>
          </a:prstGeom>
          <a:solidFill>
            <a:srgbClr val="8FD3CD"/>
          </a:solidFill>
          <a:ln w="12700">
            <a:solidFill>
              <a:srgbClr val="8FD3C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806440" y="251460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</a:t>
            </a:r>
            <a:r>
              <a:rPr lang="en-US" sz="10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28232" y="2514600"/>
            <a:ext cx="530352" cy="274320"/>
          </a:xfrm>
          <a:prstGeom prst="roundRect">
            <a:avLst>
              <a:gd name="adj" fmla="val 20000"/>
            </a:avLst>
          </a:prstGeom>
          <a:solidFill>
            <a:srgbClr val="F5C2B6"/>
          </a:solidFill>
          <a:ln w="12700">
            <a:solidFill>
              <a:srgbClr val="F5C2B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28232" y="251460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</a:t>
            </a:r>
            <a:r>
              <a:rPr lang="en-US" sz="10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050024" y="2514600"/>
            <a:ext cx="530352" cy="274320"/>
          </a:xfrm>
          <a:prstGeom prst="roundRect">
            <a:avLst>
              <a:gd name="adj" fmla="val 20000"/>
            </a:avLst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050024" y="251460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</a:t>
            </a:r>
            <a:r>
              <a:rPr lang="en-US" sz="1000" b="1" baseline="-400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57200" y="310896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108960"/>
            <a:ext cx="91440" cy="1325880"/>
          </a:xfrm>
          <a:prstGeom prst="rect">
            <a:avLst/>
          </a:prstGeom>
          <a:solidFill>
            <a:srgbClr val="E98773"/>
          </a:solidFill>
          <a:ln w="12700">
            <a:solidFill>
              <a:srgbClr val="E9877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3200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</a:t>
            </a:r>
            <a:r>
              <a:rPr lang="en-US" sz="22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3</a:t>
            </a:r>
            <a:r>
              <a:rPr lang="en-US" sz="22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= A</a:t>
            </a:r>
            <a:r>
              <a:rPr lang="en-US" sz="22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11</a:t>
            </a:r>
            <a:r>
              <a:rPr lang="en-US" sz="22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(B</a:t>
            </a:r>
            <a:r>
              <a:rPr lang="en-US" sz="22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12</a:t>
            </a:r>
            <a:r>
              <a:rPr lang="en-US" sz="22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− B</a:t>
            </a:r>
            <a:r>
              <a:rPr lang="en-US" sz="22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22</a:t>
            </a:r>
            <a:r>
              <a:rPr lang="en-US" sz="22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731520" y="4023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blocks used: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600200" y="4023360"/>
            <a:ext cx="530352" cy="274320"/>
          </a:xfrm>
          <a:prstGeom prst="roundRect">
            <a:avLst>
              <a:gd name="adj" fmla="val 20000"/>
            </a:avLst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600200" y="402336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</a:t>
            </a:r>
            <a:r>
              <a:rPr lang="en-US" sz="1000" b="1" baseline="-400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221992" y="4023360"/>
            <a:ext cx="530352" cy="274320"/>
          </a:xfrm>
          <a:prstGeom prst="roundRect">
            <a:avLst>
              <a:gd name="adj" fmla="val 20000"/>
            </a:avLst>
          </a:prstGeom>
          <a:solidFill>
            <a:srgbClr val="E98773"/>
          </a:solidFill>
          <a:ln w="12700">
            <a:solidFill>
              <a:srgbClr val="E9877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221992" y="402336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</a:t>
            </a:r>
            <a:r>
              <a:rPr lang="en-US" sz="10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843784" y="4023360"/>
            <a:ext cx="530352" cy="274320"/>
          </a:xfrm>
          <a:prstGeom prst="roundRect">
            <a:avLst>
              <a:gd name="adj" fmla="val 20000"/>
            </a:avLst>
          </a:prstGeom>
          <a:solidFill>
            <a:srgbClr val="F5C2B6"/>
          </a:solidFill>
          <a:ln w="12700">
            <a:solidFill>
              <a:srgbClr val="F5C2B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843784" y="402336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</a:t>
            </a:r>
            <a:r>
              <a:rPr lang="en-US" sz="10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663440" y="310896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63440" y="3108960"/>
            <a:ext cx="91440" cy="1325880"/>
          </a:xfrm>
          <a:prstGeom prst="rect">
            <a:avLst/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937760" y="3200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</a:t>
            </a:r>
            <a:r>
              <a:rPr lang="en-US" sz="22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4</a:t>
            </a:r>
            <a:r>
              <a:rPr lang="en-US" sz="22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= A</a:t>
            </a:r>
            <a:r>
              <a:rPr lang="en-US" sz="22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22</a:t>
            </a:r>
            <a:r>
              <a:rPr lang="en-US" sz="22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(B</a:t>
            </a:r>
            <a:r>
              <a:rPr lang="en-US" sz="22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21</a:t>
            </a:r>
            <a:r>
              <a:rPr lang="en-US" sz="22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− B</a:t>
            </a:r>
            <a:r>
              <a:rPr lang="en-US" sz="22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11</a:t>
            </a:r>
            <a:r>
              <a:rPr lang="en-US" sz="22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4937760" y="4023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blocks used: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806440" y="4023360"/>
            <a:ext cx="530352" cy="274320"/>
          </a:xfrm>
          <a:prstGeom prst="roundRect">
            <a:avLst>
              <a:gd name="adj" fmla="val 20000"/>
            </a:avLst>
          </a:prstGeom>
          <a:solidFill>
            <a:srgbClr val="F5C2B6"/>
          </a:solidFill>
          <a:ln w="12700">
            <a:solidFill>
              <a:srgbClr val="F5C2B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806440" y="402336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A</a:t>
            </a:r>
            <a:r>
              <a:rPr lang="en-US" sz="10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22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428232" y="4023360"/>
            <a:ext cx="530352" cy="274320"/>
          </a:xfrm>
          <a:prstGeom prst="roundRect">
            <a:avLst>
              <a:gd name="adj" fmla="val 20000"/>
            </a:avLst>
          </a:prstGeom>
          <a:solidFill>
            <a:srgbClr val="8FD3CD"/>
          </a:solidFill>
          <a:ln w="12700">
            <a:solidFill>
              <a:srgbClr val="8FD3C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428232" y="402336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</a:t>
            </a:r>
            <a:r>
              <a:rPr lang="en-US" sz="10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050024" y="4023360"/>
            <a:ext cx="530352" cy="274320"/>
          </a:xfrm>
          <a:prstGeom prst="roundRect">
            <a:avLst>
              <a:gd name="adj" fmla="val 20000"/>
            </a:avLst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050024" y="4023360"/>
            <a:ext cx="530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B</a:t>
            </a:r>
            <a:r>
              <a:rPr lang="en-US" sz="1000" b="1" baseline="-400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43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Intermediate Products M</a:t>
            </a:r>
            <a:r>
              <a:rPr lang="en-US" sz="28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5</a:t>
            </a:r>
            <a:r>
              <a:rPr lang="en-US" sz="2800" b="1" dirty="0">
                <a:solidFill>
                  <a:srgbClr val="17243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 to M</a:t>
            </a:r>
            <a:r>
              <a:rPr lang="en-US" sz="28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7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 flipV="1">
            <a:off x="457199" y="886969"/>
            <a:ext cx="1983219" cy="45719"/>
          </a:xfrm>
          <a:prstGeom prst="rect">
            <a:avLst/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Strassen’s Matrix Multiplication  |  Atharva Ghodki  |  25070521209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91440" cy="914400"/>
          </a:xfrm>
          <a:prstGeom prst="rect">
            <a:avLst/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2801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</a:t>
            </a:r>
            <a:r>
              <a:rPr lang="en-US" sz="22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5</a:t>
            </a:r>
            <a:r>
              <a:rPr lang="en-US" sz="22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= (A</a:t>
            </a:r>
            <a:r>
              <a:rPr lang="en-US" sz="22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11</a:t>
            </a:r>
            <a:r>
              <a:rPr lang="en-US" sz="22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+ A</a:t>
            </a:r>
            <a:r>
              <a:rPr lang="en-US" sz="22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12</a:t>
            </a:r>
            <a:r>
              <a:rPr lang="en-US" sz="22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)B</a:t>
            </a:r>
            <a:r>
              <a:rPr lang="en-US" sz="22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22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31720"/>
            <a:ext cx="91440" cy="914400"/>
          </a:xfrm>
          <a:prstGeom prst="rect">
            <a:avLst/>
          </a:prstGeom>
          <a:solidFill>
            <a:srgbClr val="E98773"/>
          </a:solidFill>
          <a:ln w="12700">
            <a:solidFill>
              <a:srgbClr val="E9877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3317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</a:t>
            </a:r>
            <a:r>
              <a:rPr lang="en-US" sz="22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6</a:t>
            </a:r>
            <a:r>
              <a:rPr lang="en-US" sz="22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= (A</a:t>
            </a:r>
            <a:r>
              <a:rPr lang="en-US" sz="22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21</a:t>
            </a:r>
            <a:r>
              <a:rPr lang="en-US" sz="22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− A</a:t>
            </a:r>
            <a:r>
              <a:rPr lang="en-US" sz="22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11</a:t>
            </a:r>
            <a:r>
              <a:rPr lang="en-US" sz="22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)(B</a:t>
            </a:r>
            <a:r>
              <a:rPr lang="en-US" sz="22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11</a:t>
            </a:r>
            <a:r>
              <a:rPr lang="en-US" sz="22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+ B</a:t>
            </a:r>
            <a:r>
              <a:rPr lang="en-US" sz="22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12</a:t>
            </a:r>
            <a:r>
              <a:rPr lang="en-US" sz="22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5394960" cy="914400"/>
          </a:xfrm>
          <a:prstGeom prst="roundRect">
            <a:avLst>
              <a:gd name="adj" fmla="val 10000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383280"/>
            <a:ext cx="91440" cy="914400"/>
          </a:xfrm>
          <a:prstGeom prst="rect">
            <a:avLst/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3832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M</a:t>
            </a:r>
            <a:r>
              <a:rPr lang="en-US" sz="22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7</a:t>
            </a:r>
            <a:r>
              <a:rPr lang="en-US" sz="22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= (A</a:t>
            </a:r>
            <a:r>
              <a:rPr lang="en-US" sz="22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12</a:t>
            </a:r>
            <a:r>
              <a:rPr lang="en-US" sz="22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− A</a:t>
            </a:r>
            <a:r>
              <a:rPr lang="en-US" sz="22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22</a:t>
            </a:r>
            <a:r>
              <a:rPr lang="en-US" sz="22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)(B</a:t>
            </a:r>
            <a:r>
              <a:rPr lang="en-US" sz="22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21</a:t>
            </a:r>
            <a:r>
              <a:rPr lang="en-US" sz="22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+ B</a:t>
            </a:r>
            <a:r>
              <a:rPr lang="en-US" sz="22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22</a:t>
            </a:r>
            <a:r>
              <a:rPr lang="en-US" sz="22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468880" cy="3063240"/>
          </a:xfrm>
          <a:prstGeom prst="roundRect">
            <a:avLst>
              <a:gd name="adj" fmla="val 3704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FD3C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result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217920" y="17830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5C2B6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8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217920" y="2468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↓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217920" y="2788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8FD3CD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7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217920" y="3657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Recursive Multiplications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43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Reconstructing the Result Matrix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45720"/>
          </a:xfrm>
          <a:prstGeom prst="rect">
            <a:avLst/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Strassen’s Matrix Multiplication  |  Atharva Ghodki  |  25070521209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931920" cy="685800"/>
          </a:xfrm>
          <a:prstGeom prst="roundRect">
            <a:avLst>
              <a:gd name="adj" fmla="val 13333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91440" cy="685800"/>
          </a:xfrm>
          <a:prstGeom prst="rect">
            <a:avLst/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1887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</a:t>
            </a:r>
            <a:r>
              <a:rPr lang="en-US" sz="15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11</a:t>
            </a:r>
            <a:r>
              <a:rPr lang="en-US" sz="15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= M</a:t>
            </a:r>
            <a:r>
              <a:rPr lang="en-US" sz="15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</a:t>
            </a:r>
            <a:r>
              <a:rPr lang="en-US" sz="15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+ M</a:t>
            </a:r>
            <a:r>
              <a:rPr lang="en-US" sz="15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4</a:t>
            </a:r>
            <a:r>
              <a:rPr lang="en-US" sz="15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− M</a:t>
            </a:r>
            <a:r>
              <a:rPr lang="en-US" sz="15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5</a:t>
            </a:r>
            <a:r>
              <a:rPr lang="en-US" sz="15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+ M</a:t>
            </a:r>
            <a:r>
              <a:rPr lang="en-US" sz="15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7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434840" y="1531620"/>
            <a:ext cx="411480" cy="0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892040" y="1280160"/>
            <a:ext cx="731520" cy="502920"/>
          </a:xfrm>
          <a:prstGeom prst="roundRect">
            <a:avLst>
              <a:gd name="adj" fmla="val 10909"/>
            </a:avLst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12801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</a:t>
            </a:r>
            <a:r>
              <a:rPr lang="en-US" sz="1400" b="1" baseline="-400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3931920" cy="685800"/>
          </a:xfrm>
          <a:prstGeom prst="roundRect">
            <a:avLst>
              <a:gd name="adj" fmla="val 13333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11680"/>
            <a:ext cx="91440" cy="685800"/>
          </a:xfrm>
          <a:prstGeom prst="rect">
            <a:avLst/>
          </a:prstGeom>
          <a:solidFill>
            <a:srgbClr val="E98773"/>
          </a:solidFill>
          <a:ln w="12700">
            <a:solidFill>
              <a:srgbClr val="E9877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20116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</a:t>
            </a:r>
            <a:r>
              <a:rPr lang="en-US" sz="15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12</a:t>
            </a:r>
            <a:r>
              <a:rPr lang="en-US" sz="15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= M</a:t>
            </a:r>
            <a:r>
              <a:rPr lang="en-US" sz="15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3</a:t>
            </a:r>
            <a:r>
              <a:rPr lang="en-US" sz="15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+ M</a:t>
            </a:r>
            <a:r>
              <a:rPr lang="en-US" sz="15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5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434840" y="2354580"/>
            <a:ext cx="411480" cy="0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892040" y="2103120"/>
            <a:ext cx="731520" cy="502920"/>
          </a:xfrm>
          <a:prstGeom prst="roundRect">
            <a:avLst>
              <a:gd name="adj" fmla="val 10909"/>
            </a:avLst>
          </a:prstGeom>
          <a:solidFill>
            <a:srgbClr val="E98773"/>
          </a:solidFill>
          <a:ln w="12700">
            <a:solidFill>
              <a:srgbClr val="E9877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92040" y="21031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</a:t>
            </a:r>
            <a:r>
              <a:rPr lang="en-US" sz="14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3931920" cy="685800"/>
          </a:xfrm>
          <a:prstGeom prst="roundRect">
            <a:avLst>
              <a:gd name="adj" fmla="val 13333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34640"/>
            <a:ext cx="91440" cy="685800"/>
          </a:xfrm>
          <a:prstGeom prst="rect">
            <a:avLst/>
          </a:prstGeom>
          <a:solidFill>
            <a:srgbClr val="8FD3CD"/>
          </a:solidFill>
          <a:ln w="12700">
            <a:solidFill>
              <a:srgbClr val="8FD3C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28346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</a:t>
            </a:r>
            <a:r>
              <a:rPr lang="en-US" sz="15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21</a:t>
            </a:r>
            <a:r>
              <a:rPr lang="en-US" sz="15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= M</a:t>
            </a:r>
            <a:r>
              <a:rPr lang="en-US" sz="15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</a:t>
            </a:r>
            <a:r>
              <a:rPr lang="en-US" sz="15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+ M</a:t>
            </a:r>
            <a:r>
              <a:rPr lang="en-US" sz="15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4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434840" y="3177540"/>
            <a:ext cx="411480" cy="0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892040" y="2926080"/>
            <a:ext cx="731520" cy="502920"/>
          </a:xfrm>
          <a:prstGeom prst="roundRect">
            <a:avLst>
              <a:gd name="adj" fmla="val 10909"/>
            </a:avLst>
          </a:prstGeom>
          <a:solidFill>
            <a:srgbClr val="8FD3CD"/>
          </a:solidFill>
          <a:ln w="12700">
            <a:solidFill>
              <a:srgbClr val="8FD3C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92040" y="29260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</a:t>
            </a:r>
            <a:r>
              <a:rPr lang="en-US" sz="14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57200" y="3657600"/>
            <a:ext cx="3931920" cy="685800"/>
          </a:xfrm>
          <a:prstGeom prst="roundRect">
            <a:avLst>
              <a:gd name="adj" fmla="val 13333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657600"/>
            <a:ext cx="91440" cy="685800"/>
          </a:xfrm>
          <a:prstGeom prst="rect">
            <a:avLst/>
          </a:prstGeom>
          <a:solidFill>
            <a:srgbClr val="F5C2B6"/>
          </a:solidFill>
          <a:ln w="12700">
            <a:solidFill>
              <a:srgbClr val="F5C2B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36576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</a:t>
            </a:r>
            <a:r>
              <a:rPr lang="en-US" sz="15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22</a:t>
            </a:r>
            <a:r>
              <a:rPr lang="en-US" sz="15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= M</a:t>
            </a:r>
            <a:r>
              <a:rPr lang="en-US" sz="15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</a:t>
            </a:r>
            <a:r>
              <a:rPr lang="en-US" sz="15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− M</a:t>
            </a:r>
            <a:r>
              <a:rPr lang="en-US" sz="15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</a:t>
            </a:r>
            <a:r>
              <a:rPr lang="en-US" sz="15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+ M</a:t>
            </a:r>
            <a:r>
              <a:rPr lang="en-US" sz="15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3</a:t>
            </a:r>
            <a:r>
              <a:rPr lang="en-US" sz="15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+ M</a:t>
            </a:r>
            <a:r>
              <a:rPr lang="en-US" sz="15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6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434840" y="4000500"/>
            <a:ext cx="411480" cy="0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892040" y="3749040"/>
            <a:ext cx="731520" cy="502920"/>
          </a:xfrm>
          <a:prstGeom prst="roundRect">
            <a:avLst>
              <a:gd name="adj" fmla="val 10909"/>
            </a:avLst>
          </a:prstGeom>
          <a:solidFill>
            <a:srgbClr val="F5C2B6"/>
          </a:solidFill>
          <a:ln w="12700">
            <a:solidFill>
              <a:srgbClr val="F5C2B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92040" y="37490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</a:t>
            </a:r>
            <a:r>
              <a:rPr lang="en-US" sz="14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760720" y="2651760"/>
            <a:ext cx="457200" cy="0"/>
          </a:xfrm>
          <a:prstGeom prst="line">
            <a:avLst/>
          </a:prstGeom>
          <a:noFill/>
          <a:ln w="38100">
            <a:solidFill>
              <a:srgbClr val="159A91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6355080" y="1005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00" b="1" dirty="0">
                <a:solidFill>
                  <a:srgbClr val="17243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C = A</a:t>
            </a:r>
            <a:r>
              <a:rPr lang="en-US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·</a:t>
            </a:r>
            <a:r>
              <a:rPr lang="en-US" sz="1700" b="1" dirty="0">
                <a:solidFill>
                  <a:srgbClr val="17243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B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355080" y="1417320"/>
            <a:ext cx="1143000" cy="1097280"/>
          </a:xfrm>
          <a:prstGeom prst="roundRect">
            <a:avLst>
              <a:gd name="adj" fmla="val 5000"/>
            </a:avLst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355080" y="1417320"/>
            <a:ext cx="1143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</a:t>
            </a:r>
            <a:r>
              <a:rPr lang="en-US" sz="1700" b="1" baseline="-400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11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552944" y="1417320"/>
            <a:ext cx="1143000" cy="1097280"/>
          </a:xfrm>
          <a:prstGeom prst="roundRect">
            <a:avLst>
              <a:gd name="adj" fmla="val 5000"/>
            </a:avLst>
          </a:prstGeom>
          <a:solidFill>
            <a:srgbClr val="E98773"/>
          </a:solidFill>
          <a:ln w="12700">
            <a:solidFill>
              <a:srgbClr val="E9877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552944" y="1417320"/>
            <a:ext cx="1143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</a:t>
            </a:r>
            <a:r>
              <a:rPr lang="en-US" sz="17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12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355080" y="2569464"/>
            <a:ext cx="1143000" cy="1097280"/>
          </a:xfrm>
          <a:prstGeom prst="roundRect">
            <a:avLst>
              <a:gd name="adj" fmla="val 5000"/>
            </a:avLst>
          </a:prstGeom>
          <a:solidFill>
            <a:srgbClr val="8FD3CD"/>
          </a:solidFill>
          <a:ln w="12700">
            <a:solidFill>
              <a:srgbClr val="8FD3C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55080" y="2569464"/>
            <a:ext cx="1143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</a:t>
            </a:r>
            <a:r>
              <a:rPr lang="en-US" sz="17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21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552944" y="2569464"/>
            <a:ext cx="1143000" cy="1097280"/>
          </a:xfrm>
          <a:prstGeom prst="roundRect">
            <a:avLst>
              <a:gd name="adj" fmla="val 5000"/>
            </a:avLst>
          </a:prstGeom>
          <a:solidFill>
            <a:srgbClr val="F5C2B6"/>
          </a:solidFill>
          <a:ln w="12700">
            <a:solidFill>
              <a:srgbClr val="F5C2B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552944" y="2569464"/>
            <a:ext cx="1143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</a:t>
            </a:r>
            <a:r>
              <a:rPr lang="en-US" sz="17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22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263640" y="1417320"/>
            <a:ext cx="0" cy="2249424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63640" y="1417320"/>
            <a:ext cx="73152" cy="0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63640" y="3666744"/>
            <a:ext cx="73152" cy="0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87384" y="1417320"/>
            <a:ext cx="0" cy="2249424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714232" y="1417320"/>
            <a:ext cx="73152" cy="0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714232" y="3666744"/>
            <a:ext cx="73152" cy="0"/>
          </a:xfrm>
          <a:prstGeom prst="line">
            <a:avLst/>
          </a:prstGeom>
          <a:noFill/>
          <a:ln w="25400">
            <a:solidFill>
              <a:srgbClr val="17243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217920" y="38404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57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Four output blocks assemble into the final matrix.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43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Algorithm Workflow and Pseudocode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535102" cy="45719"/>
          </a:xfrm>
          <a:prstGeom prst="rect">
            <a:avLst/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Strassen’s Matrix Multiplication  |  Atharva Ghodki  |  25070521209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2344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Input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A, B (n × n)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286000" y="1097280"/>
            <a:ext cx="1737360" cy="914400"/>
          </a:xfrm>
          <a:prstGeom prst="diamond">
            <a:avLst/>
          </a:prstGeom>
          <a:solidFill>
            <a:srgbClr val="E98773"/>
          </a:solidFill>
          <a:ln w="12700">
            <a:solidFill>
              <a:srgbClr val="E9877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0972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24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 ≤ base?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26280" y="1234440"/>
            <a:ext cx="1737360" cy="640080"/>
          </a:xfrm>
          <a:prstGeom prst="roundRect">
            <a:avLst>
              <a:gd name="adj" fmla="val 14286"/>
            </a:avLst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234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Divide A, B into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 blocks each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675120" y="123444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1234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Compute M</a:t>
            </a:r>
            <a:r>
              <a:rPr lang="en-US" sz="1200" b="1" baseline="-40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… M</a:t>
            </a:r>
            <a:r>
              <a:rPr lang="en-US" sz="1200" b="1" baseline="-40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recursively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920240" y="1554480"/>
            <a:ext cx="365760" cy="0"/>
          </a:xfrm>
          <a:prstGeom prst="line">
            <a:avLst/>
          </a:prstGeom>
          <a:noFill/>
          <a:ln w="28575">
            <a:solidFill>
              <a:srgbClr val="17243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023360" y="1554480"/>
            <a:ext cx="502920" cy="0"/>
          </a:xfrm>
          <a:prstGeom prst="line">
            <a:avLst/>
          </a:prstGeom>
          <a:noFill/>
          <a:ln w="28575">
            <a:solidFill>
              <a:srgbClr val="17243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63640" y="1554480"/>
            <a:ext cx="411480" cy="0"/>
          </a:xfrm>
          <a:prstGeom prst="line">
            <a:avLst/>
          </a:prstGeom>
          <a:noFill/>
          <a:ln w="28575">
            <a:solidFill>
              <a:srgbClr val="17243A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4069080" y="12801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24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331720" y="269748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31720" y="2697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Conventional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× B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154680" y="2011680"/>
            <a:ext cx="0" cy="685800"/>
          </a:xfrm>
          <a:prstGeom prst="line">
            <a:avLst/>
          </a:prstGeom>
          <a:noFill/>
          <a:ln w="28575">
            <a:solidFill>
              <a:srgbClr val="17243A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3246120" y="21945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24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Yes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675120" y="269748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2697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Combine M_i into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</a:t>
            </a:r>
            <a:r>
              <a:rPr lang="en-US" sz="1200" b="1" baseline="-40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11</a:t>
            </a: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… C</a:t>
            </a:r>
            <a:r>
              <a:rPr lang="en-US" sz="1200" b="1" baseline="-40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680960" y="1874520"/>
            <a:ext cx="0" cy="822960"/>
          </a:xfrm>
          <a:prstGeom prst="line">
            <a:avLst/>
          </a:prstGeom>
          <a:noFill/>
          <a:ln w="28575">
            <a:solidFill>
              <a:srgbClr val="17243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572000" y="2697480"/>
            <a:ext cx="1645920" cy="640080"/>
          </a:xfrm>
          <a:prstGeom prst="roundRect">
            <a:avLst>
              <a:gd name="adj" fmla="val 1428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0" y="2697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Return 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977640" y="3017520"/>
            <a:ext cx="594360" cy="0"/>
          </a:xfrm>
          <a:prstGeom prst="line">
            <a:avLst/>
          </a:prstGeom>
          <a:noFill/>
          <a:ln w="28575">
            <a:solidFill>
              <a:srgbClr val="17243A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H="1">
            <a:off x="6217920" y="3017520"/>
            <a:ext cx="457200" cy="0"/>
          </a:xfrm>
          <a:prstGeom prst="line">
            <a:avLst/>
          </a:prstGeom>
          <a:noFill/>
          <a:ln w="28575">
            <a:solidFill>
              <a:srgbClr val="17243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57200" y="356616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1576" y="36576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D3CD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Strassen(A, B, n):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8FD3CD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if n ≤ base: return A × B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8FD3CD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  split A, B into 4 blocks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4572000" y="365760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M</a:t>
            </a:r>
            <a:r>
              <a:rPr lang="en-US" sz="1400" baseline="-400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… M</a:t>
            </a:r>
            <a:r>
              <a:rPr lang="en-US" sz="1400" baseline="-400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7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← 7 recursive calls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C</a:t>
            </a:r>
            <a:r>
              <a:rPr lang="en-US" sz="1400" baseline="-400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11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… C</a:t>
            </a:r>
            <a:r>
              <a:rPr lang="en-US" sz="1400" baseline="-400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22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← combine the M_i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  return join(C</a:t>
            </a:r>
            <a:r>
              <a:rPr lang="en-US" sz="1400" baseline="-400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11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, C</a:t>
            </a:r>
            <a:r>
              <a:rPr lang="en-US" sz="1400" baseline="-400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12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, C</a:t>
            </a:r>
            <a:r>
              <a:rPr lang="en-US" sz="1400" baseline="-400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21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, C</a:t>
            </a:r>
            <a:r>
              <a:rPr lang="en-US" sz="1400" baseline="-400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22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43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Time Complexity Analysis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1607770" cy="45719"/>
          </a:xfrm>
          <a:prstGeom prst="rect">
            <a:avLst/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Strassen’s Matrix Multiplication  |  Atharva Ghodki  |  25070521209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840480" cy="3429000"/>
          </a:xfrm>
          <a:prstGeom prst="roundRect">
            <a:avLst>
              <a:gd name="adj" fmla="val 2667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T(n) = 7T(n/2) + O(n</a:t>
            </a:r>
            <a:r>
              <a:rPr lang="en-US" b="1" baseline="3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</a:t>
            </a:r>
            <a:r>
              <a:rPr lang="en-US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94360" y="178308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037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 recursive multiplications on matrices of size n/2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037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Additions and subtractions cost O(n²) per level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037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Master Theorem: a = 7, b = 2, and log₂7 ≈ 2.807 &gt; 2, so the recursion dominates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94360" y="3128035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59A91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T(n) = O(n</a:t>
            </a:r>
            <a:r>
              <a:rPr lang="en-US" b="1" baseline="30000" dirty="0">
                <a:solidFill>
                  <a:srgbClr val="159A91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log₂ 7</a:t>
            </a:r>
            <a:r>
              <a:rPr lang="en-US" b="1" dirty="0">
                <a:solidFill>
                  <a:srgbClr val="159A91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) ≈ O(n</a:t>
            </a:r>
            <a:r>
              <a:rPr lang="en-US" b="1" baseline="30000" dirty="0">
                <a:solidFill>
                  <a:srgbClr val="159A91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2.8074</a:t>
            </a:r>
            <a:r>
              <a:rPr lang="en-US" b="1" dirty="0">
                <a:solidFill>
                  <a:srgbClr val="159A91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94360" y="3575697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4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Conventional: O(n</a:t>
            </a:r>
            <a:r>
              <a:rPr lang="en-US" sz="1400" b="1" baseline="30000" dirty="0">
                <a:solidFill>
                  <a:srgbClr val="1724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r>
              <a:rPr lang="en-US" sz="1400" b="1" dirty="0">
                <a:solidFill>
                  <a:srgbClr val="1724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   Strassen: O(n</a:t>
            </a:r>
            <a:r>
              <a:rPr lang="en-US" sz="1400" b="1" baseline="30000" dirty="0">
                <a:solidFill>
                  <a:srgbClr val="1724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2.8074</a:t>
            </a:r>
            <a:r>
              <a:rPr lang="en-US" sz="1400" b="1" dirty="0">
                <a:solidFill>
                  <a:srgbClr val="1724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94360" y="3868305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037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lower exponent matters most as n grows large; for small n, overhead can outweigh it.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Chart 0"/>
          <p:cNvGraphicFramePr/>
          <p:nvPr>
            <p:extLst>
              <p:ext uri="{D42A27DB-BD31-4B8C-83A1-F6EECF244321}">
                <p14:modId xmlns:p14="http://schemas.microsoft.com/office/powerpoint/2010/main" val="1310613148"/>
              </p:ext>
            </p:extLst>
          </p:nvPr>
        </p:nvGraphicFramePr>
        <p:xfrm>
          <a:off x="4480560" y="1188720"/>
          <a:ext cx="420624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43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Advantages, Limitations and Applications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 flipV="1">
            <a:off x="457199" y="886969"/>
            <a:ext cx="2425279" cy="45719"/>
          </a:xfrm>
          <a:prstGeom prst="rect">
            <a:avLst/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57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Strassen’s Matrix Multiplication  |  Atharva Ghodki  |  25070521209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159A9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25880"/>
            <a:ext cx="457200" cy="457200"/>
          </a:xfrm>
          <a:prstGeom prst="ellipse">
            <a:avLst/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✓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23444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243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Advantages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0080" y="192024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037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Better asymptotic complexity than conventional O(n³)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037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example of divide and conquer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037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Can help for sufficiently large matrices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E987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1325880"/>
            <a:ext cx="457200" cy="457200"/>
          </a:xfrm>
          <a:prstGeom prst="ellipse">
            <a:avLst/>
          </a:prstGeom>
          <a:solidFill>
            <a:srgbClr val="E98773"/>
          </a:solidFill>
          <a:ln w="12700">
            <a:solidFill>
              <a:srgbClr val="E9877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724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!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02336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243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Limitations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3429000" y="192024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037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Extra additions and subtractions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037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Greater implementation complexity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037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Can require extra memory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037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May be slower for small matrices (overhead)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037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Floating-point behavior can differ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25400">
            <a:solidFill>
              <a:srgbClr val="1724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1325880"/>
            <a:ext cx="457200" cy="457200"/>
          </a:xfrm>
          <a:prstGeom prst="ellipse">
            <a:avLst/>
          </a:prstGeom>
          <a:solidFill>
            <a:srgbClr val="17243A"/>
          </a:solidFill>
          <a:ln w="12700">
            <a:solidFill>
              <a:srgbClr val="1724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∑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81228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7243A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Applications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217920" y="192024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037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Large-scale numerical computing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037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Scientific computing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037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Matrix-intensive workloads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24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Strassen’s algorithm is not automatically the best choice for every matrix size or workload.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5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24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Conclusion and References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 flipV="1">
            <a:off x="457200" y="886969"/>
            <a:ext cx="2225444" cy="45719"/>
          </a:xfrm>
          <a:prstGeom prst="rect">
            <a:avLst/>
          </a:prstGeom>
          <a:solidFill>
            <a:srgbClr val="8FD3CD"/>
          </a:solidFill>
          <a:ln w="12700">
            <a:solidFill>
              <a:srgbClr val="8FD3C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D3C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Strassen’s Matrix Multiplication  |  Atharva Ghodki  |  25070521209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rgbClr val="159A9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4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05840" y="11887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Strassen’s algorithm uses divide and conquer.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384048" cy="384048"/>
          </a:xfrm>
          <a:prstGeom prst="ellipse">
            <a:avLst/>
          </a:prstGeom>
          <a:solidFill>
            <a:srgbClr val="E987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4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005840" y="17373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It reduces recursive block multiplications from eight to seven.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384048" cy="384048"/>
          </a:xfrm>
          <a:prstGeom prst="ellipse">
            <a:avLst/>
          </a:prstGeom>
          <a:solidFill>
            <a:srgbClr val="8FD3C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286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243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005840" y="228600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Its asymptotic time complexity is O(n</a:t>
            </a:r>
            <a:r>
              <a:rPr lang="en-US" sz="1400" baseline="300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2.8074</a:t>
            </a: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5577840" cy="777240"/>
          </a:xfrm>
          <a:prstGeom prst="roundRect">
            <a:avLst>
              <a:gd name="adj" fmla="val 11765"/>
            </a:avLst>
          </a:prstGeom>
          <a:solidFill>
            <a:srgbClr val="1F3354"/>
          </a:solidFill>
          <a:ln w="19050">
            <a:solidFill>
              <a:srgbClr val="159A9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8FD3CD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“Reducing recursive multiplications can improve asymptotic efficiency.”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57200" y="38404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E8ED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References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E8ED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[1] V. Strassen, “Gaussian elimination is not optimal,” Numerische Mathematik, vol. 13, no. 4, pp. 354–356, 1969.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E8EDF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[2] T. H. Cormen, C. E. Leiserson, R. L. Rivest and C. Stein, Introduction to Algorithms, 4th ed. MIT Press, 2022.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0" y="1463040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159A91"/>
          </a:solidFill>
          <a:ln w="12700">
            <a:solidFill>
              <a:srgbClr val="159A9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0" y="1463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</a:t>
            </a:r>
            <a:r>
              <a:rPr lang="en-US" sz="1600" b="1" baseline="-40000" dirty="0">
                <a:solidFill>
                  <a:srgbClr val="FFFFFF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644384" y="1463040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E98773"/>
          </a:solidFill>
          <a:ln w="12700">
            <a:solidFill>
              <a:srgbClr val="E9877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44384" y="1463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</a:t>
            </a:r>
            <a:r>
              <a:rPr lang="en-US" sz="16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12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583680" y="2523744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8FD3CD"/>
          </a:solidFill>
          <a:ln w="12700">
            <a:solidFill>
              <a:srgbClr val="8FD3C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0" y="2523744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</a:t>
            </a:r>
            <a:r>
              <a:rPr lang="en-US" sz="16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21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644384" y="2523744"/>
            <a:ext cx="1005840" cy="1005840"/>
          </a:xfrm>
          <a:prstGeom prst="roundRect">
            <a:avLst>
              <a:gd name="adj" fmla="val 5455"/>
            </a:avLst>
          </a:prstGeom>
          <a:solidFill>
            <a:srgbClr val="F5C2B6"/>
          </a:solidFill>
          <a:ln w="12700">
            <a:solidFill>
              <a:srgbClr val="F5C2B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44384" y="2523744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</a:t>
            </a:r>
            <a:r>
              <a:rPr lang="en-US" sz="1600" b="1" baseline="-40000" dirty="0">
                <a:solidFill>
                  <a:srgbClr val="17243A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22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92240" y="1463040"/>
            <a:ext cx="0" cy="2066544"/>
          </a:xfrm>
          <a:prstGeom prst="line">
            <a:avLst/>
          </a:prstGeom>
          <a:noFill/>
          <a:ln w="25400">
            <a:solidFill>
              <a:srgbClr val="8FD3C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92240" y="1463040"/>
            <a:ext cx="73152" cy="0"/>
          </a:xfrm>
          <a:prstGeom prst="line">
            <a:avLst/>
          </a:prstGeom>
          <a:noFill/>
          <a:ln w="25400">
            <a:solidFill>
              <a:srgbClr val="8FD3C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3529584"/>
            <a:ext cx="73152" cy="0"/>
          </a:xfrm>
          <a:prstGeom prst="line">
            <a:avLst/>
          </a:prstGeom>
          <a:noFill/>
          <a:ln w="25400">
            <a:solidFill>
              <a:srgbClr val="8FD3C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41664" y="1463040"/>
            <a:ext cx="0" cy="2066544"/>
          </a:xfrm>
          <a:prstGeom prst="line">
            <a:avLst/>
          </a:prstGeom>
          <a:noFill/>
          <a:ln w="25400">
            <a:solidFill>
              <a:srgbClr val="8FD3C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68512" y="1463040"/>
            <a:ext cx="73152" cy="0"/>
          </a:xfrm>
          <a:prstGeom prst="line">
            <a:avLst/>
          </a:prstGeom>
          <a:noFill/>
          <a:ln w="25400">
            <a:solidFill>
              <a:srgbClr val="8FD3C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668512" y="3529584"/>
            <a:ext cx="73152" cy="0"/>
          </a:xfrm>
          <a:prstGeom prst="line">
            <a:avLst/>
          </a:prstGeom>
          <a:noFill/>
          <a:ln w="25400">
            <a:solidFill>
              <a:srgbClr val="8FD3C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83680" y="105156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C = A</a:t>
            </a: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·</a:t>
            </a: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B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7316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FD3C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9D53F6-E33D-90A2-5F3A-D8BFB520A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7856A211-41BD-3B11-0937-C342D85EB5AB}"/>
              </a:ext>
            </a:extLst>
          </p:cNvPr>
          <p:cNvSpPr txBox="1"/>
          <p:nvPr/>
        </p:nvSpPr>
        <p:spPr>
          <a:xfrm>
            <a:off x="208919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D3CD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Strassen’s Matrix Multiplication  |  Atharva Ghodki  |  25070521209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92471B1-D779-6DE9-83BC-7701EC9F6E98}"/>
              </a:ext>
            </a:extLst>
          </p:cNvPr>
          <p:cNvSpPr txBox="1"/>
          <p:nvPr/>
        </p:nvSpPr>
        <p:spPr>
          <a:xfrm>
            <a:off x="1005840" y="118872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F7578FF-452B-8C38-FFD3-1DCB3DF91D22}"/>
              </a:ext>
            </a:extLst>
          </p:cNvPr>
          <p:cNvSpPr txBox="1"/>
          <p:nvPr/>
        </p:nvSpPr>
        <p:spPr>
          <a:xfrm>
            <a:off x="1746292" y="2187702"/>
            <a:ext cx="5651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EF3D0B0B-B972-5891-55ED-412553EE0C46}"/>
              </a:ext>
            </a:extLst>
          </p:cNvPr>
          <p:cNvSpPr txBox="1"/>
          <p:nvPr/>
        </p:nvSpPr>
        <p:spPr>
          <a:xfrm>
            <a:off x="457200" y="38404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C2B72D68-B12B-5779-130E-F27D03A3F9E8}"/>
              </a:ext>
            </a:extLst>
          </p:cNvPr>
          <p:cNvSpPr txBox="1"/>
          <p:nvPr/>
        </p:nvSpPr>
        <p:spPr>
          <a:xfrm>
            <a:off x="6583680" y="105156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lide Number Placeholder 0">
            <a:extLst>
              <a:ext uri="{FF2B5EF4-FFF2-40B4-BE49-F238E27FC236}">
                <a16:creationId xmlns:a16="http://schemas.microsoft.com/office/drawing/2014/main" id="{BD1A0D04-1170-BDEA-676A-99DB860A1C1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6467411" y="4773168"/>
            <a:ext cx="2603921" cy="25603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FD3C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 Generated using Claude AI</a:t>
            </a:r>
            <a:endParaRPr lang="en-IN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623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1127</Words>
  <Application>Microsoft Office PowerPoint</Application>
  <PresentationFormat>On-screen Show (16:9)</PresentationFormat>
  <Paragraphs>242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Strassen’s Matrix Multiplication</dc:title>
  <dc:subject>PptxGenJS Presentation</dc:subject>
  <dc:creator>[Your Name]</dc:creator>
  <cp:lastModifiedBy>Atharva Ghodki</cp:lastModifiedBy>
  <cp:revision>3</cp:revision>
  <dcterms:created xsi:type="dcterms:W3CDTF">2026-10-18T17:59:01Z</dcterms:created>
  <dcterms:modified xsi:type="dcterms:W3CDTF">2026-10-20T07:57:50Z</dcterms:modified>
</cp:coreProperties>
</file>